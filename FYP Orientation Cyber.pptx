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377" r:id="rId2"/>
    <p:sldId id="379" r:id="rId3"/>
    <p:sldId id="391" r:id="rId4"/>
    <p:sldId id="397" r:id="rId5"/>
    <p:sldId id="321" r:id="rId6"/>
    <p:sldId id="366" r:id="rId7"/>
    <p:sldId id="367" r:id="rId8"/>
    <p:sldId id="361" r:id="rId9"/>
    <p:sldId id="365" r:id="rId10"/>
    <p:sldId id="368" r:id="rId11"/>
    <p:sldId id="291" r:id="rId12"/>
    <p:sldId id="326" r:id="rId13"/>
    <p:sldId id="327" r:id="rId14"/>
    <p:sldId id="328" r:id="rId15"/>
    <p:sldId id="329" r:id="rId16"/>
    <p:sldId id="330" r:id="rId17"/>
    <p:sldId id="378" r:id="rId18"/>
    <p:sldId id="331" r:id="rId19"/>
    <p:sldId id="332" r:id="rId20"/>
    <p:sldId id="343" r:id="rId21"/>
    <p:sldId id="380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35" r:id="rId30"/>
    <p:sldId id="336" r:id="rId31"/>
    <p:sldId id="381" r:id="rId32"/>
    <p:sldId id="382" r:id="rId33"/>
    <p:sldId id="393" r:id="rId34"/>
    <p:sldId id="337" r:id="rId35"/>
    <p:sldId id="383" r:id="rId36"/>
    <p:sldId id="341" r:id="rId37"/>
    <p:sldId id="316" r:id="rId38"/>
    <p:sldId id="398" r:id="rId39"/>
    <p:sldId id="399" r:id="rId40"/>
    <p:sldId id="400" r:id="rId41"/>
    <p:sldId id="401" r:id="rId42"/>
    <p:sldId id="319" r:id="rId43"/>
    <p:sldId id="345" r:id="rId44"/>
    <p:sldId id="394" r:id="rId45"/>
    <p:sldId id="282" r:id="rId4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3CC"/>
    <a:srgbClr val="008000"/>
    <a:srgbClr val="0099FF"/>
    <a:srgbClr val="003300"/>
    <a:srgbClr val="5F5F5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843" autoAdjust="0"/>
    <p:restoredTop sz="94662" autoAdjust="0"/>
  </p:normalViewPr>
  <p:slideViewPr>
    <p:cSldViewPr>
      <p:cViewPr varScale="1">
        <p:scale>
          <a:sx n="115" d="100"/>
          <a:sy n="115" d="100"/>
        </p:scale>
        <p:origin x="45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16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5B61D-6E15-4AE3-B1DA-761B24A431A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0C4AC-4694-47B8-8F37-427767AF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4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3F48-66C6-4A0B-B5C9-7471BA4624BB}" type="datetime1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BC48-DCF9-41DF-A152-391DEE9AE781}" type="datetime1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5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74AB-85AA-4023-91F9-DC465279B1A3}" type="datetime1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8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CF8E0-D0A8-4F31-8A66-D81E310158E3}" type="datetime1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0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A5E3E-B51D-4FB2-9FCE-1513FFCE5481}" type="datetime1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7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54949-6A82-4F22-9541-705C656D4CD8}" type="datetime1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9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635-D3A6-43AC-AF4E-FCE3DDF88DA0}" type="datetime1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3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D41A2-71F6-4887-8B63-A9FE105F93DC}" type="datetime1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6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6342-22CF-4461-A5F1-7E9FE8EE4AC0}" type="datetime1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8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A585-3262-4116-98A0-FB5031184C3C}" type="datetime1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7391-F3BF-453C-97F6-6AAA8D56793D}" type="datetime1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4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81B8F-C49A-4E88-9EB8-B2C57491B6AC}" type="datetime1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2582B-FC16-47B7-A505-CBC6F67FA4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8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hyperlink" Target="https://moellim.riphah.edu.pk/course/view.php?id=7459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yawar.abbas@riphah.edu.pk" TargetMode="External"/><Relationship Id="rId2" Type="http://schemas.openxmlformats.org/officeDocument/2006/relationships/hyperlink" Target="mailto:muhammad.shabbir@riphah.edu.p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fi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514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Year Project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Orientation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BS- Cyber Security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34000"/>
            <a:ext cx="6400800" cy="116345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Faculty of Computing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Riphah International University, Islamabad</a:t>
            </a:r>
          </a:p>
          <a:p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FAll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8BB38-F4CA-7E23-BD4F-16D59A224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09"/>
            <a:ext cx="1895273" cy="1470025"/>
          </a:xfrm>
          <a:prstGeom prst="rect">
            <a:avLst/>
          </a:prstGeom>
        </p:spPr>
      </p:pic>
      <p:pic>
        <p:nvPicPr>
          <p:cNvPr id="6" name="Picture 2" descr="Network Security Tips &amp; Guidelines | Travelers Insurance">
            <a:extLst>
              <a:ext uri="{FF2B5EF4-FFF2-40B4-BE49-F238E27FC236}">
                <a16:creationId xmlns:a16="http://schemas.microsoft.com/office/drawing/2014/main" id="{1EFC325B-7A2A-EAF0-A8AA-E8DA40841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430" y="0"/>
            <a:ext cx="2188095" cy="149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03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Project Idea / Scope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Project Team / Supervisor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Policies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Schedule / Deliverables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b="1" dirty="0"/>
              <a:t>Project Report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000" dirty="0"/>
          </a:p>
        </p:txBody>
      </p:sp>
      <p:pic>
        <p:nvPicPr>
          <p:cNvPr id="4" name="Picture 3" descr="Creating and rolling out an effective cyber security strategy">
            <a:extLst>
              <a:ext uri="{FF2B5EF4-FFF2-40B4-BE49-F238E27FC236}">
                <a16:creationId xmlns:a16="http://schemas.microsoft.com/office/drawing/2014/main" id="{36905C96-39B9-68F7-3C05-24C4B6BD6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508056"/>
            <a:ext cx="9144001" cy="235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991DD-E692-BCB5-971E-74EE49873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E85F5-D9D7-3F2F-EEB9-A6CF20B1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9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Idea / Scope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CB2E77-341A-BB9D-2BCB-E508F5B1A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78CBF-E642-4A0C-DF74-1BA52825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Final Year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spcBef>
                <a:spcPts val="0"/>
              </a:spcBef>
              <a:spcAft>
                <a:spcPts val="3000"/>
              </a:spcAft>
            </a:pPr>
            <a:r>
              <a:rPr lang="en-US" dirty="0"/>
              <a:t>The Final Year Project (FYP) is a mandatory prerequisite for award of degree in BS (CY)</a:t>
            </a:r>
          </a:p>
          <a:p>
            <a:pPr algn="just">
              <a:spcBef>
                <a:spcPts val="0"/>
              </a:spcBef>
              <a:spcAft>
                <a:spcPts val="3000"/>
              </a:spcAft>
            </a:pPr>
            <a:r>
              <a:rPr lang="en-US" dirty="0"/>
              <a:t>It provides you with an opportunity to apply the theories and principles learned in different courses, and integrate material learned at different stages of your BSCY degree program </a:t>
            </a:r>
            <a:r>
              <a:rPr lang="en-US" b="1" dirty="0"/>
              <a:t>to protect/prevent/manage the system/network/data from breaches, intrusions and threats by protecting hardware and software’s that maintains CIA.   </a:t>
            </a:r>
          </a:p>
          <a:p>
            <a:pPr algn="just">
              <a:spcBef>
                <a:spcPts val="0"/>
              </a:spcBef>
              <a:spcAft>
                <a:spcPts val="3000"/>
              </a:spcAft>
            </a:pPr>
            <a:r>
              <a:rPr lang="en-US" dirty="0"/>
              <a:t>There may also be a need for additional, domain specific knowledge in a project, which will necessitate additional study.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8BE977-18A2-A182-F03A-9BB4BAB9F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73375-E3C8-FF9C-55EF-3DEB9B7D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7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Year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It is the </a:t>
            </a:r>
            <a:r>
              <a:rPr lang="en-US" sz="2000" b="1" dirty="0"/>
              <a:t>largest single piece of work </a:t>
            </a:r>
            <a:r>
              <a:rPr lang="en-US" sz="2000" dirty="0"/>
              <a:t>you will do during your degree course.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It is the part of the curriculum that allows you to </a:t>
            </a:r>
            <a:r>
              <a:rPr lang="en-US" sz="2000" b="1" dirty="0"/>
              <a:t>specialize in a topic</a:t>
            </a:r>
            <a:r>
              <a:rPr lang="en-US" sz="2000" dirty="0"/>
              <a:t> you are good at or enjoy. It allows you </a:t>
            </a:r>
            <a:r>
              <a:rPr lang="en-US" sz="2000" b="1" dirty="0"/>
              <a:t>integration of material learned </a:t>
            </a:r>
            <a:r>
              <a:rPr lang="en-US" sz="2000" dirty="0"/>
              <a:t>in a number of courses.</a:t>
            </a:r>
          </a:p>
          <a:p>
            <a:pPr lvl="0"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It is the part of your degree program that prospective employers will most likely </a:t>
            </a:r>
            <a:r>
              <a:rPr lang="en-US" sz="2000" b="1" dirty="0"/>
              <a:t>ask you about at an interview</a:t>
            </a:r>
            <a:r>
              <a:rPr lang="en-US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C998A-E823-0EB4-096B-0485B66EC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F4F43-17EE-0FFF-A6ED-730D0C70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7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Given that you are going to spend a lot of time working on your project, it is essential that you </a:t>
            </a:r>
            <a:r>
              <a:rPr lang="en-US" sz="2000" b="1" dirty="0"/>
              <a:t>pick a project which you </a:t>
            </a:r>
            <a:r>
              <a:rPr lang="en-US" sz="2000" b="1" dirty="0">
                <a:solidFill>
                  <a:srgbClr val="3333FF"/>
                </a:solidFill>
              </a:rPr>
              <a:t>like</a:t>
            </a:r>
            <a:r>
              <a:rPr lang="en-US" sz="2000" b="1" dirty="0"/>
              <a:t> and which you are </a:t>
            </a:r>
            <a:r>
              <a:rPr lang="en-US" sz="2000" b="1" dirty="0">
                <a:solidFill>
                  <a:srgbClr val="3333FF"/>
                </a:solidFill>
              </a:rPr>
              <a:t>capable</a:t>
            </a:r>
            <a:r>
              <a:rPr lang="en-US" sz="2000" b="1" dirty="0"/>
              <a:t> of doing</a:t>
            </a:r>
            <a:r>
              <a:rPr lang="en-US" sz="2000" dirty="0"/>
              <a:t>.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Note that these are not necessarily the same things: </a:t>
            </a:r>
            <a:r>
              <a:rPr lang="en-US" sz="2000" b="1" dirty="0"/>
              <a:t>just because you like a particular project doesn’t mean you are qualified to do it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9F99E-60F4-7914-3A46-0E1E392F3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E8F8C-4D12-566C-4ABC-0E80DF94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9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Faculty members will evaluate your proposal for: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scope,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complexity,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originality of idea (creativity) and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amount of self-learning involved </a:t>
            </a:r>
          </a:p>
          <a:p>
            <a:pPr algn="just">
              <a:spcBef>
                <a:spcPts val="2400"/>
              </a:spcBef>
              <a:spcAft>
                <a:spcPts val="1200"/>
              </a:spcAft>
            </a:pPr>
            <a:r>
              <a:rPr lang="en-US" sz="2000" dirty="0"/>
              <a:t>Your project idea must provide to </a:t>
            </a:r>
            <a:r>
              <a:rPr lang="en-US" sz="2000" b="1" dirty="0"/>
              <a:t>solving real-world cyber security challenges, by analyzing problems, creating and evaluating solutions</a:t>
            </a:r>
            <a:r>
              <a:rPr lang="en-US" sz="2000" dirty="0"/>
              <a:t>, by clearly identifying </a:t>
            </a:r>
            <a:r>
              <a:rPr lang="en-US" sz="2000" b="1" dirty="0"/>
              <a:t>opportunity(</a:t>
            </a:r>
            <a:r>
              <a:rPr lang="en-US" sz="2000" b="1" dirty="0" err="1"/>
              <a:t>ies</a:t>
            </a:r>
            <a:r>
              <a:rPr lang="en-US" sz="2000" b="1" dirty="0"/>
              <a:t>) </a:t>
            </a:r>
            <a:r>
              <a:rPr lang="en-US" sz="2000" dirty="0"/>
              <a:t>and the </a:t>
            </a:r>
            <a:r>
              <a:rPr lang="en-US" sz="2000" b="1" dirty="0"/>
              <a:t>stakeholders</a:t>
            </a:r>
            <a:r>
              <a:rPr lang="en-US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1B8BE-C66E-2257-D30A-59F88CBF2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ED514-53B5-A0F4-2C1E-89BE1A4A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5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Team / Supervisor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6F9E35-F4C1-C199-5E63-7453586A4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88974A-9C91-CFD8-D787-C1160DF5A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6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Ideally you should form a team of </a:t>
            </a:r>
            <a:r>
              <a:rPr lang="en-US" sz="2000" b="1" dirty="0"/>
              <a:t>2</a:t>
            </a:r>
            <a:r>
              <a:rPr lang="en-US" sz="2000" dirty="0"/>
              <a:t> members </a:t>
            </a:r>
          </a:p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This is important to demonstrate </a:t>
            </a:r>
            <a:r>
              <a:rPr lang="en-US" sz="2000" b="1" dirty="0"/>
              <a:t>team work, </a:t>
            </a:r>
            <a:r>
              <a:rPr lang="en-US" sz="2000" dirty="0"/>
              <a:t>but also necessary so that a project has </a:t>
            </a:r>
            <a:r>
              <a:rPr lang="en-US" sz="2000" b="1" dirty="0"/>
              <a:t>enough resources for achieving desired quality</a:t>
            </a:r>
          </a:p>
          <a:p>
            <a:pPr>
              <a:spcBef>
                <a:spcPts val="600"/>
              </a:spcBef>
              <a:spcAft>
                <a:spcPts val="3000"/>
              </a:spcAft>
            </a:pPr>
            <a:r>
              <a:rPr lang="en-US" sz="2000" dirty="0"/>
              <a:t>A team of </a:t>
            </a:r>
            <a:r>
              <a:rPr lang="en-US" sz="2000" b="1" dirty="0"/>
              <a:t>three</a:t>
            </a:r>
            <a:r>
              <a:rPr lang="en-US" sz="2000" dirty="0"/>
              <a:t> students can be formed only if the </a:t>
            </a:r>
            <a:r>
              <a:rPr lang="en-US" sz="2000" b="1" dirty="0"/>
              <a:t>scope and complexity of the project justifies</a:t>
            </a:r>
            <a:r>
              <a:rPr lang="en-US" sz="2000" dirty="0"/>
              <a:t> these numbers.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7B195-D470-BF89-E8D7-D06B3CB43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1436B-5B5D-2268-F234-AE27A7F2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5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Project Supervisor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 Your supervisor is only suppose to provide you with </a:t>
            </a:r>
            <a:r>
              <a:rPr lang="en-US" sz="2000" b="1" dirty="0"/>
              <a:t>guidance and feedback, time to time and </a:t>
            </a:r>
            <a:r>
              <a:rPr lang="en-US" sz="2000" dirty="0"/>
              <a:t>you are fully responsible for your project success / failure. 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</a:pPr>
            <a:r>
              <a:rPr lang="en-US" sz="2000" dirty="0"/>
              <a:t> Supervisor will maintain the weekly attendance of their project.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9A9C2-FF97-D557-0BA3-69D942AD9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6C483-1E76-DEF8-8B1B-39C250D4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2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Supervisors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203255"/>
              </p:ext>
            </p:extLst>
          </p:nvPr>
        </p:nvGraphicFramePr>
        <p:xfrm>
          <a:off x="1752600" y="1295400"/>
          <a:ext cx="5867400" cy="55321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019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4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Jawaid Iqbal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Mansoor </a:t>
                      </a:r>
                      <a:r>
                        <a:rPr lang="en-US" sz="3200" b="1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Alam</a:t>
                      </a:r>
                      <a:b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Imran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74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Osama Raza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74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</a:t>
                      </a:r>
                      <a:r>
                        <a:rPr lang="en-US" sz="3200" b="1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Awais</a:t>
                      </a:r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Nawaz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74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</a:t>
                      </a:r>
                      <a:r>
                        <a:rPr lang="en-US" sz="3200" b="1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Moeed</a:t>
                      </a:r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Ahmed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74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Humayun Raza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6600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</a:t>
                      </a:r>
                      <a:r>
                        <a:rPr lang="en-US" sz="3200" b="1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Yawar</a:t>
                      </a:r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Abbas</a:t>
                      </a:r>
                    </a:p>
                    <a:p>
                      <a:pPr algn="l" fontAlgn="b"/>
                      <a:r>
                        <a:rPr lang="en-US" sz="32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</a:t>
                      </a:r>
                      <a:r>
                        <a:rPr lang="en-US" sz="3200" b="1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Tabbasum</a:t>
                      </a:r>
                      <a:endParaRPr lang="en-US" sz="32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74">
                <a:tc>
                  <a:txBody>
                    <a:bodyPr/>
                    <a:lstStyle/>
                    <a:p>
                      <a:pPr algn="l" fontAlgn="b"/>
                      <a:endParaRPr lang="en-US" sz="32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5E4A88F8-46BE-93F9-D041-59D71D45B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35F60-E341-91F9-9789-5DB0FBB6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4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956E78-AE87-568D-ACC2-751CAC53E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0CD9BA-BD22-F08D-A102-4A674E84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9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Entire group (all members) </a:t>
            </a:r>
            <a:r>
              <a:rPr lang="en-US" sz="2000" b="1" dirty="0"/>
              <a:t>must officially meet </a:t>
            </a:r>
            <a:r>
              <a:rPr lang="en-US" sz="2000" dirty="0"/>
              <a:t>with their supervisor once a week.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Every month student should submit the satisfactory report to the Project coordination office (</a:t>
            </a:r>
            <a:r>
              <a:rPr lang="en-US" sz="2000" dirty="0" err="1"/>
              <a:t>Yawar</a:t>
            </a:r>
            <a:r>
              <a:rPr lang="en-US" sz="2000" dirty="0"/>
              <a:t> Abbas) A-211, signed by their respective supervisor.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Incase group fail to meet their supervisor in </a:t>
            </a:r>
            <a:r>
              <a:rPr lang="en-US" sz="2000" b="1" dirty="0"/>
              <a:t>three consecutive weeks</a:t>
            </a:r>
            <a:r>
              <a:rPr lang="en-US" sz="2000" dirty="0"/>
              <a:t>. The entire group will automatically earn “</a:t>
            </a:r>
            <a:r>
              <a:rPr lang="en-US" sz="2000" b="1" dirty="0"/>
              <a:t>F</a:t>
            </a:r>
            <a:r>
              <a:rPr lang="en-US" sz="2000" dirty="0"/>
              <a:t>” grade .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Incase a group member </a:t>
            </a:r>
            <a:r>
              <a:rPr lang="en-US" sz="2000" b="1" dirty="0"/>
              <a:t>fails to attend 75% of meeting</a:t>
            </a:r>
            <a:r>
              <a:rPr lang="en-US" sz="2000" dirty="0"/>
              <a:t>, he will automatically earn “F” grade.</a:t>
            </a:r>
          </a:p>
          <a:p>
            <a:pPr>
              <a:spcBef>
                <a:spcPts val="600"/>
              </a:spcBef>
              <a:spcAft>
                <a:spcPts val="2400"/>
              </a:spcAft>
            </a:pPr>
            <a:r>
              <a:rPr lang="en-US" sz="2000" dirty="0"/>
              <a:t>See Section 8.2 &amp; Section 8.2.1 of your Handbook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A5A413-E600-FB79-6F62-EB2CBCF63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B3CCF-9C32-30A8-8C3E-6E939ED0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84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Moellim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You are expected to regularly check: </a:t>
            </a:r>
            <a:r>
              <a:rPr lang="en-US" sz="2000" dirty="0">
                <a:hlinkClick r:id="rId2"/>
              </a:rPr>
              <a:t>https://moellim.riphah.edu.pk/course/view.php?id=7459</a:t>
            </a:r>
            <a:r>
              <a:rPr lang="en-US" sz="2000" dirty="0"/>
              <a:t> for:</a:t>
            </a:r>
          </a:p>
          <a:p>
            <a:pPr lvl="1"/>
            <a:endParaRPr lang="en-US" sz="2400" dirty="0"/>
          </a:p>
          <a:p>
            <a:pPr lvl="1"/>
            <a:r>
              <a:rPr lang="en-US" sz="2000" dirty="0"/>
              <a:t>Supporting Material</a:t>
            </a:r>
          </a:p>
          <a:p>
            <a:pPr lvl="1"/>
            <a:r>
              <a:rPr lang="en-US" sz="2000" dirty="0"/>
              <a:t>Resources</a:t>
            </a:r>
          </a:p>
          <a:p>
            <a:pPr lvl="1"/>
            <a:r>
              <a:rPr lang="en-US" sz="2000" dirty="0"/>
              <a:t>Announcements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12995-6BE3-F5DB-2C54-7F0AD4A8F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36FA0-CC37-CCFA-40AD-6BE43531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11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Any piece of code, framework or component developed by someone else that you are using in your project </a:t>
            </a:r>
            <a:r>
              <a:rPr lang="en-US" sz="2000" dirty="0">
                <a:solidFill>
                  <a:srgbClr val="3333FF"/>
                </a:solidFill>
              </a:rPr>
              <a:t>must be properly acknowledged / referenced </a:t>
            </a:r>
            <a:r>
              <a:rPr lang="en-US" sz="2000" dirty="0"/>
              <a:t>in your documentation.  </a:t>
            </a:r>
            <a:r>
              <a:rPr lang="en-US" sz="2000" b="1" dirty="0"/>
              <a:t>You cannot claim any such code , framework or component as your own</a:t>
            </a:r>
            <a:r>
              <a:rPr lang="en-US" sz="2000" dirty="0"/>
              <a:t>.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Your efforts will be </a:t>
            </a:r>
            <a:r>
              <a:rPr lang="en-US" sz="2000" dirty="0">
                <a:solidFill>
                  <a:srgbClr val="3333FF"/>
                </a:solidFill>
              </a:rPr>
              <a:t>evaluated by the amount of work you have done</a:t>
            </a:r>
            <a:r>
              <a:rPr lang="en-US" sz="2000" dirty="0"/>
              <a:t> yourself. You must write your own documentation and cannot copy from any other source.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Incase a group is found to be involved in any kind of plagiarism, the group will automatically earn “F” grade.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000" dirty="0"/>
              <a:t>See Section 8.3 of your Handbook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E59487-1136-4F52-EB29-06A7A0C9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73861-7B4A-7326-FEE5-FE3AFBE7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35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000" dirty="0"/>
              <a:t>In the week immediately after finals you will make Progress Presentation (you will also </a:t>
            </a:r>
            <a:r>
              <a:rPr lang="en-US" sz="2000" b="1" dirty="0"/>
              <a:t>show the half report and half working project</a:t>
            </a:r>
            <a:r>
              <a:rPr lang="en-US" sz="2000" dirty="0"/>
              <a:t>) to Exam Committee.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dirty="0"/>
              <a:t>Evaluation Method: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50% by Exam Committee Average + 50% by Supervisor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may evaluate each member of the project group individually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Decision of the Exam Committee and Supervisor will be final.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2000" dirty="0"/>
              <a:t>See Section 6.1 of your Handbook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E11E6-8628-EEBA-A09A-E6D2A790B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CEB4F-D15D-3E27-EBDE-B8794AA2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90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000" b="1" dirty="0"/>
              <a:t>For Example: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Average Marks by Faculty for the Group: </a:t>
            </a:r>
            <a:r>
              <a:rPr lang="en-US" sz="2000" dirty="0">
                <a:solidFill>
                  <a:srgbClr val="008000"/>
                </a:solidFill>
              </a:rPr>
              <a:t>70 (35%)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Marks for Student 1: </a:t>
            </a:r>
            <a:r>
              <a:rPr lang="en-US" sz="2000" dirty="0">
                <a:solidFill>
                  <a:srgbClr val="0033CC"/>
                </a:solidFill>
              </a:rPr>
              <a:t>76 (38%)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Marks for Student 2: </a:t>
            </a:r>
            <a:r>
              <a:rPr lang="en-US" sz="2000" dirty="0">
                <a:solidFill>
                  <a:srgbClr val="0033CC"/>
                </a:solidFill>
              </a:rPr>
              <a:t>60 (30%)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Marks for Student 3: </a:t>
            </a:r>
            <a:r>
              <a:rPr lang="en-US" sz="2000" dirty="0">
                <a:solidFill>
                  <a:srgbClr val="0033CC"/>
                </a:solidFill>
              </a:rPr>
              <a:t>90 (45%)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Student 1 Grade: </a:t>
            </a:r>
            <a:r>
              <a:rPr lang="en-US" sz="2000" dirty="0">
                <a:solidFill>
                  <a:srgbClr val="008000"/>
                </a:solidFill>
              </a:rPr>
              <a:t>35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33CC"/>
                </a:solidFill>
              </a:rPr>
              <a:t>38</a:t>
            </a:r>
            <a:r>
              <a:rPr lang="en-US" sz="2000" dirty="0"/>
              <a:t> = </a:t>
            </a:r>
            <a:r>
              <a:rPr lang="en-US" sz="2000" b="1" dirty="0"/>
              <a:t>73% (B Grade)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Student 2 Grade: </a:t>
            </a:r>
            <a:r>
              <a:rPr lang="en-US" sz="2000" dirty="0">
                <a:solidFill>
                  <a:srgbClr val="008000"/>
                </a:solidFill>
              </a:rPr>
              <a:t>35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33CC"/>
                </a:solidFill>
              </a:rPr>
              <a:t>30</a:t>
            </a:r>
            <a:r>
              <a:rPr lang="en-US" sz="2000" dirty="0"/>
              <a:t> = </a:t>
            </a:r>
            <a:r>
              <a:rPr lang="en-US" sz="2000" b="1" dirty="0"/>
              <a:t>65% (C Grade)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Student 3 Grade: </a:t>
            </a:r>
            <a:r>
              <a:rPr lang="en-US" sz="2000" dirty="0">
                <a:solidFill>
                  <a:srgbClr val="008000"/>
                </a:solidFill>
              </a:rPr>
              <a:t>35</a:t>
            </a:r>
            <a:r>
              <a:rPr lang="en-US" sz="2000" dirty="0"/>
              <a:t>+</a:t>
            </a:r>
            <a:r>
              <a:rPr lang="en-US" sz="2000" dirty="0">
                <a:solidFill>
                  <a:srgbClr val="0033CC"/>
                </a:solidFill>
              </a:rPr>
              <a:t>45</a:t>
            </a:r>
            <a:r>
              <a:rPr lang="en-US" sz="2000" dirty="0"/>
              <a:t> = </a:t>
            </a:r>
            <a:r>
              <a:rPr lang="en-US" sz="2000" b="1" dirty="0"/>
              <a:t>80% (A Grade)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0B1F5F-CCD9-E5C5-8012-4732A1F46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63572-0C64-1A0C-B931-796AB08A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7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You will be required to participate in the </a:t>
            </a:r>
            <a:r>
              <a:rPr lang="en-US" sz="2000" dirty="0">
                <a:solidFill>
                  <a:srgbClr val="3333FF"/>
                </a:solidFill>
              </a:rPr>
              <a:t>Open House </a:t>
            </a:r>
            <a:r>
              <a:rPr lang="en-US" sz="2000" dirty="0"/>
              <a:t>(15</a:t>
            </a:r>
            <a:r>
              <a:rPr lang="en-US" sz="2000" baseline="30000" dirty="0"/>
              <a:t>th</a:t>
            </a:r>
            <a:r>
              <a:rPr lang="en-US" sz="2000" dirty="0"/>
              <a:t> Week of first semester) and showcase your Project Idea, Prototype, and Project Report. </a:t>
            </a:r>
          </a:p>
          <a:p>
            <a:pPr lvl="1">
              <a:spcBef>
                <a:spcPts val="0"/>
              </a:spcBef>
              <a:spcAft>
                <a:spcPts val="3000"/>
              </a:spcAft>
            </a:pPr>
            <a:r>
              <a:rPr lang="en-US" sz="1800" dirty="0"/>
              <a:t>Failure to participate will earn you </a:t>
            </a:r>
            <a:r>
              <a:rPr lang="en-US" sz="1800" b="1" dirty="0"/>
              <a:t>“F” grade</a:t>
            </a:r>
            <a:r>
              <a:rPr lang="en-US" sz="1800" dirty="0"/>
              <a:t> unless you have prior approval from both your supervisor and project coordinator.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588C4-CA9B-89E9-4E21-F52D6FD48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6D343-8F8D-442C-FE29-B88F15A9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24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You will present your project to the Examination Committee in 14</a:t>
            </a:r>
            <a:r>
              <a:rPr lang="en-US" sz="2000" baseline="30000" dirty="0"/>
              <a:t>th</a:t>
            </a:r>
            <a:r>
              <a:rPr lang="en-US" sz="2000" dirty="0"/>
              <a:t> week of the semester.</a:t>
            </a:r>
          </a:p>
          <a:p>
            <a:endParaRPr lang="en-US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dirty="0"/>
              <a:t>Evaluation Method: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50% by Exam Committee Average + 50% by Supervisor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Supervisor may evaluate each member of the project group individually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Decision of the Exam Committee and Supervisor will be final.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sz="2000" dirty="0"/>
              <a:t>See Section 6.2 of your Handbook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E143D-DBCF-D3CB-AB37-F486E64EF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50DFF-662E-8121-7403-27795F95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76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Assessment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The Examination Committee will evaluate your project based upon: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b="1" dirty="0"/>
              <a:t>Difficulty Level </a:t>
            </a:r>
            <a:r>
              <a:rPr lang="en-US" sz="2000" dirty="0"/>
              <a:t>(scope, complexity, creativity and amount of self-learning involved in the developing the final system) and 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b="1" dirty="0"/>
              <a:t>Quality</a:t>
            </a:r>
            <a:r>
              <a:rPr lang="en-US" sz="2000" dirty="0"/>
              <a:t> (presentation, </a:t>
            </a:r>
            <a:r>
              <a:rPr lang="en-US" sz="2000" dirty="0" err="1"/>
              <a:t>git,usability</a:t>
            </a:r>
            <a:r>
              <a:rPr lang="en-US" sz="2000" dirty="0"/>
              <a:t>, system design, documentation, and coding).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b="1" dirty="0"/>
              <a:t>Solution</a:t>
            </a:r>
            <a:r>
              <a:rPr lang="en-US" sz="2000" dirty="0"/>
              <a:t> (whether your solution /software system actually provides the  solution to problem(s) of potential stakeholders).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24119-B808-6F3C-970A-043656487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256CA-08E5-9076-53F0-DC37AF82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53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 / DELIVERABLES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4F0262-3421-1E28-ED75-A1E1EB1D1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2B054-6FED-AC27-8C33-F15FDB74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87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Year Project 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Course Registration: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You can register in FYP if you have completed </a:t>
            </a:r>
            <a:r>
              <a:rPr lang="en-US" sz="2000" b="1" dirty="0"/>
              <a:t>at-least 100 credit hours</a:t>
            </a:r>
            <a:r>
              <a:rPr lang="en-US" sz="2000" dirty="0"/>
              <a:t> and are not under probation for </a:t>
            </a:r>
            <a:r>
              <a:rPr lang="en-US" sz="2000"/>
              <a:t>low CGPA.</a:t>
            </a:r>
            <a:endParaRPr lang="en-US" dirty="0"/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C01AA-1C79-C444-6BD7-9DFA6FAB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21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Year Project 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01:</a:t>
            </a:r>
            <a:endParaRPr lang="en-US" sz="2000" dirty="0"/>
          </a:p>
          <a:p>
            <a:r>
              <a:rPr lang="en-US" sz="2000" dirty="0"/>
              <a:t>You must attend Orientation Seminar.</a:t>
            </a:r>
          </a:p>
          <a:p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Project Team List (Both HARD &amp; SOFT COPY - Use </a:t>
            </a:r>
            <a:r>
              <a:rPr lang="en-US" sz="2000" b="1" dirty="0"/>
              <a:t>Template-01</a:t>
            </a:r>
            <a:r>
              <a:rPr lang="en-US" sz="2000" dirty="0"/>
              <a:t> Submit Project Team List 01) to Project Coordinator and on </a:t>
            </a:r>
            <a:r>
              <a:rPr lang="en-US" sz="2000" dirty="0" err="1"/>
              <a:t>moellim</a:t>
            </a:r>
            <a:r>
              <a:rPr lang="en-US" sz="2000" dirty="0"/>
              <a:t>.</a:t>
            </a:r>
          </a:p>
          <a:p>
            <a:r>
              <a:rPr lang="en-US" sz="2000" b="1" dirty="0"/>
              <a:t>Due Date/Time: Friday</a:t>
            </a:r>
            <a:r>
              <a:rPr lang="en-US" sz="2000" dirty="0"/>
              <a:t>, 28</a:t>
            </a:r>
            <a:r>
              <a:rPr lang="en-US" sz="2000" baseline="30000" dirty="0"/>
              <a:t>th</a:t>
            </a:r>
            <a:r>
              <a:rPr lang="en-US" sz="2000" dirty="0"/>
              <a:t> Aug 2026 - 4:00PM</a:t>
            </a:r>
            <a:endParaRPr lang="en-US" dirty="0"/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CCDA7-9D41-037B-8073-786347CF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763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Year Project 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02:</a:t>
            </a:r>
            <a:endParaRPr lang="en-US" sz="2000" dirty="0"/>
          </a:p>
          <a:p>
            <a:r>
              <a:rPr lang="en-US" sz="2000" dirty="0"/>
              <a:t>Develop Project Ideas; Confirm Supervisor.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Initial Proposal (HARD COPY and soft copy - Use </a:t>
            </a:r>
            <a:r>
              <a:rPr lang="en-US" sz="2000" b="1" dirty="0"/>
              <a:t>Template-02</a:t>
            </a:r>
            <a:r>
              <a:rPr lang="en-US" sz="2000" dirty="0"/>
              <a:t>) signed by your supervisor to Project Coordinator.  </a:t>
            </a:r>
          </a:p>
          <a:p>
            <a:r>
              <a:rPr lang="en-US" sz="2000" b="1" dirty="0"/>
              <a:t>Due Date/Time: </a:t>
            </a:r>
            <a:r>
              <a:rPr lang="en-US" sz="2000" dirty="0"/>
              <a:t>Friday, 4</a:t>
            </a:r>
            <a:r>
              <a:rPr lang="en-US" sz="2000" baseline="30000" dirty="0"/>
              <a:t>th</a:t>
            </a:r>
            <a:r>
              <a:rPr lang="en-US" sz="2000" dirty="0"/>
              <a:t> Sep 2026 (4:00 PM)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D1A675-F98D-661D-BE27-01125E75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118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Year Project 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04:</a:t>
            </a:r>
            <a:endParaRPr lang="en-US" sz="2000" dirty="0"/>
          </a:p>
          <a:p>
            <a:r>
              <a:rPr lang="en-US" sz="2000" dirty="0"/>
              <a:t>Present Project Proposal to entire faculty.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Project Proposal Presentation (SOFT COPY - Use </a:t>
            </a:r>
            <a:r>
              <a:rPr lang="en-US" sz="2000" b="1" dirty="0"/>
              <a:t>Template-03</a:t>
            </a:r>
            <a:r>
              <a:rPr lang="en-US" sz="2000" dirty="0"/>
              <a:t>) in moellim</a:t>
            </a:r>
          </a:p>
          <a:p>
            <a:r>
              <a:rPr lang="en-US" sz="2000" dirty="0"/>
              <a:t>Schedule &amp; Deliver Presentation to Faculty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68E48-D3D1-C4B2-2755-9E7D273C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18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Year Project 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06:</a:t>
            </a:r>
            <a:endParaRPr lang="en-US" sz="2000" dirty="0"/>
          </a:p>
          <a:p>
            <a:r>
              <a:rPr lang="en-US" sz="2000" dirty="0"/>
              <a:t>Finalize Project Proposal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Submit Project Proposal &amp; Plan (Both SOFT &amp; HARD COPY - Use </a:t>
            </a:r>
            <a:r>
              <a:rPr lang="en-US" sz="2000" b="1" dirty="0"/>
              <a:t>Template-04</a:t>
            </a:r>
            <a:r>
              <a:rPr lang="en-US" sz="2000" dirty="0"/>
              <a:t>)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  <p:sp>
        <p:nvSpPr>
          <p:cNvPr id="9" name="Down Arrow Callout 8"/>
          <p:cNvSpPr/>
          <p:nvPr/>
        </p:nvSpPr>
        <p:spPr>
          <a:xfrm>
            <a:off x="533400" y="4648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Finalize Project Proposal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E13A67-B8FD-0E28-A7CA-2A68AC4F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44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Year Project 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15:</a:t>
            </a:r>
            <a:endParaRPr lang="en-US" sz="2000" dirty="0"/>
          </a:p>
          <a:p>
            <a:r>
              <a:rPr lang="en-US" sz="2000" dirty="0"/>
              <a:t>Participate in Open House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Banners, Brochure, Story Board, Prototype, Project Report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  <p:sp>
        <p:nvSpPr>
          <p:cNvPr id="9" name="Down Arrow Callout 8"/>
          <p:cNvSpPr/>
          <p:nvPr/>
        </p:nvSpPr>
        <p:spPr>
          <a:xfrm>
            <a:off x="533400" y="4648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Finalize Project Proposal</a:t>
            </a:r>
          </a:p>
        </p:txBody>
      </p:sp>
      <p:sp>
        <p:nvSpPr>
          <p:cNvPr id="10" name="Down Arrow Callout 9"/>
          <p:cNvSpPr/>
          <p:nvPr/>
        </p:nvSpPr>
        <p:spPr>
          <a:xfrm>
            <a:off x="533400" y="541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 House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FBE2CD-747D-BEBB-BF27-1D131B31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69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Year Project (Part I)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Week Immediately After Finals:</a:t>
            </a:r>
            <a:endParaRPr lang="en-US" sz="2000" dirty="0"/>
          </a:p>
          <a:p>
            <a:r>
              <a:rPr lang="en-US" sz="2000" dirty="0"/>
              <a:t>Present Progress to Exam Committee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000" b="1" dirty="0"/>
              <a:t>Deliverable:</a:t>
            </a:r>
            <a:endParaRPr lang="en-US" sz="2000" dirty="0"/>
          </a:p>
          <a:p>
            <a:r>
              <a:rPr lang="en-US" sz="2000" dirty="0"/>
              <a:t>Presentation (Use </a:t>
            </a:r>
            <a:r>
              <a:rPr lang="en-US" sz="2000" b="1" dirty="0"/>
              <a:t>Template-07</a:t>
            </a:r>
            <a:r>
              <a:rPr lang="en-US" sz="2000" dirty="0"/>
              <a:t>), </a:t>
            </a:r>
            <a:r>
              <a:rPr lang="en-US" sz="2000" b="1" dirty="0"/>
              <a:t>Prototype</a:t>
            </a:r>
            <a:r>
              <a:rPr lang="en-US" sz="2000" dirty="0"/>
              <a:t>, Project Report (SOFT COPY – Half project Report– Use </a:t>
            </a:r>
            <a:r>
              <a:rPr lang="en-US" sz="2000" b="1" dirty="0"/>
              <a:t>Template-05</a:t>
            </a:r>
            <a:r>
              <a:rPr lang="en-US" sz="2000" dirty="0"/>
              <a:t>)</a:t>
            </a:r>
          </a:p>
        </p:txBody>
      </p:sp>
      <p:sp>
        <p:nvSpPr>
          <p:cNvPr id="5" name="Down Arrow Callout 4"/>
          <p:cNvSpPr/>
          <p:nvPr/>
        </p:nvSpPr>
        <p:spPr>
          <a:xfrm>
            <a:off x="533400" y="160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Registration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533400" y="2362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Orientation</a:t>
            </a:r>
          </a:p>
        </p:txBody>
      </p:sp>
      <p:sp>
        <p:nvSpPr>
          <p:cNvPr id="7" name="Down Arrow Callout 6"/>
          <p:cNvSpPr/>
          <p:nvPr/>
        </p:nvSpPr>
        <p:spPr>
          <a:xfrm>
            <a:off x="533400" y="3124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Idea &amp; Supervisor</a:t>
            </a:r>
          </a:p>
        </p:txBody>
      </p:sp>
      <p:sp>
        <p:nvSpPr>
          <p:cNvPr id="8" name="Down Arrow Callout 7"/>
          <p:cNvSpPr/>
          <p:nvPr/>
        </p:nvSpPr>
        <p:spPr>
          <a:xfrm>
            <a:off x="533400" y="3886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Proposal Presentation</a:t>
            </a:r>
          </a:p>
        </p:txBody>
      </p:sp>
      <p:sp>
        <p:nvSpPr>
          <p:cNvPr id="9" name="Down Arrow Callout 8"/>
          <p:cNvSpPr/>
          <p:nvPr/>
        </p:nvSpPr>
        <p:spPr>
          <a:xfrm>
            <a:off x="533400" y="4648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Finalize Project Proposal</a:t>
            </a:r>
          </a:p>
        </p:txBody>
      </p:sp>
      <p:sp>
        <p:nvSpPr>
          <p:cNvPr id="10" name="Down Arrow Callout 9"/>
          <p:cNvSpPr/>
          <p:nvPr/>
        </p:nvSpPr>
        <p:spPr>
          <a:xfrm>
            <a:off x="533400" y="5410200"/>
            <a:ext cx="3962400" cy="68580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 House</a:t>
            </a:r>
          </a:p>
        </p:txBody>
      </p:sp>
      <p:sp>
        <p:nvSpPr>
          <p:cNvPr id="11" name="Down Arrow Callout 10"/>
          <p:cNvSpPr/>
          <p:nvPr/>
        </p:nvSpPr>
        <p:spPr>
          <a:xfrm>
            <a:off x="533400" y="6172200"/>
            <a:ext cx="3962400" cy="685800"/>
          </a:xfrm>
          <a:prstGeom prst="downArrowCallout">
            <a:avLst>
              <a:gd name="adj1" fmla="val 25000"/>
              <a:gd name="adj2" fmla="val 0"/>
              <a:gd name="adj3" fmla="val 25000"/>
              <a:gd name="adj4" fmla="val 649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Progress Review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F382554-453F-084B-E719-A426662C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37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Year Project (Part I)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445590"/>
              </p:ext>
            </p:extLst>
          </p:nvPr>
        </p:nvGraphicFramePr>
        <p:xfrm>
          <a:off x="762000" y="1371600"/>
          <a:ext cx="7391399" cy="5303835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066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4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2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Deadline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Milestone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Submit To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Notes / Actions / Deliverables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Week 1</a:t>
                      </a:r>
                      <a:endParaRPr lang="en-US" sz="11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Attend Orientation Seminar.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Project Coordinator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/>
                        <a:t>Submit Project Team List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(Both SOFT</a:t>
                      </a:r>
                      <a:r>
                        <a:rPr lang="en-US" sz="1100" baseline="0" dirty="0"/>
                        <a:t> &amp; </a:t>
                      </a:r>
                      <a:r>
                        <a:rPr lang="en-US" sz="1100" dirty="0"/>
                        <a:t>HARD COPY - Use </a:t>
                      </a:r>
                      <a:r>
                        <a:rPr lang="en-US" sz="1100" b="1" dirty="0"/>
                        <a:t>Template-01</a:t>
                      </a:r>
                      <a:r>
                        <a:rPr lang="en-US" sz="1100" dirty="0"/>
                        <a:t>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Week 2</a:t>
                      </a:r>
                      <a:endParaRPr lang="en-US" sz="11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/>
                        <a:t>Develop Project Ideas; Find a Supervisor</a:t>
                      </a:r>
                      <a:endParaRPr lang="en-US" sz="11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/>
                        <a:t>Project Coordinator</a:t>
                      </a:r>
                      <a:endParaRPr lang="en-US" sz="11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/>
                        <a:t>Submit Initial Proposal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(HARD COPY - Use </a:t>
                      </a:r>
                      <a:r>
                        <a:rPr lang="en-US" sz="1100" b="1" dirty="0"/>
                        <a:t>Template-02</a:t>
                      </a:r>
                      <a:r>
                        <a:rPr lang="en-US" sz="1100" dirty="0"/>
                        <a:t>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Week 4</a:t>
                      </a:r>
                      <a:endParaRPr lang="en-US" sz="11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/>
                        <a:t>Defend Proposal </a:t>
                      </a:r>
                      <a:endParaRPr lang="en-US" sz="11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+mn-lt"/>
                          <a:ea typeface="+mn-ea"/>
                        </a:rPr>
                        <a:t>Entire</a:t>
                      </a:r>
                      <a:r>
                        <a:rPr lang="en-US" sz="1100" baseline="0" dirty="0">
                          <a:latin typeface="+mn-lt"/>
                          <a:ea typeface="+mn-ea"/>
                        </a:rPr>
                        <a:t> Faculty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/>
                        <a:t>Project Proposal Presentation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(SOFT COPY - Use </a:t>
                      </a:r>
                      <a:r>
                        <a:rPr lang="en-US" sz="1100" b="1" dirty="0"/>
                        <a:t>Template-03</a:t>
                      </a:r>
                      <a:r>
                        <a:rPr lang="en-US" sz="1100" dirty="0"/>
                        <a:t>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058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Week 6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dirty="0">
                        <a:latin typeface="Times New Roman"/>
                        <a:ea typeface="Times New Roman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 10</a:t>
                      </a:r>
                      <a:r>
                        <a:rPr lang="en-PK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Finalize Project Proposal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Times New Roman"/>
                        <a:ea typeface="Times New Roman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Times New Roman"/>
                        <a:ea typeface="Times New Roman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Times New Roman"/>
                        </a:rPr>
                        <a:t>Attendance and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/>
                          <a:ea typeface="Times New Roman"/>
                        </a:rPr>
                        <a:t>Performance Report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Project Coordinator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Times New Roman"/>
                        <a:ea typeface="Times New Roman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Project Coordinator </a:t>
                      </a: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Submit Project Proposal &amp; Plan </a:t>
                      </a:r>
                      <a:b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(Both SOFT &amp; HARD COPY - Use Template-04)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Char char=""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Submit Attendance and Performance Report (Both Soft and Hardcopies) Use Template-8) </a:t>
                      </a: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6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Week 15</a:t>
                      </a:r>
                      <a:endParaRPr lang="en-US" sz="11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Open House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/>
                        <a:t>Industry, Faculty &amp; Students</a:t>
                      </a:r>
                      <a:endParaRPr lang="en-US" sz="11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/>
                        <a:t>Banners, Posters, Brochure, Story Board, Prototype, Project Report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Immediately After Finals</a:t>
                      </a:r>
                      <a:endParaRPr lang="en-US" sz="11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Progress Presentation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/>
                        <a:t>/ Assessment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Exam Committee /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Supervisor</a:t>
                      </a:r>
                      <a:endParaRPr lang="en-US" sz="11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/>
                        <a:t>Presentation (Use </a:t>
                      </a:r>
                      <a:r>
                        <a:rPr lang="en-US" sz="1100" b="1" dirty="0"/>
                        <a:t>Template-07</a:t>
                      </a:r>
                      <a:r>
                        <a:rPr lang="en-US" sz="1100" dirty="0"/>
                        <a:t>), Prototype, Project Report (SOFT COPY – Half project Report– Use </a:t>
                      </a:r>
                      <a:r>
                        <a:rPr lang="en-US" sz="1100" b="1" dirty="0"/>
                        <a:t>Template-05</a:t>
                      </a:r>
                      <a:r>
                        <a:rPr lang="en-US" sz="1100" dirty="0"/>
                        <a:t>)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9E20A-503D-56B1-A5DA-F2EB292F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490588-A57B-7D0E-202D-A887748AA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393254"/>
              </p:ext>
            </p:extLst>
          </p:nvPr>
        </p:nvGraphicFramePr>
        <p:xfrm>
          <a:off x="758283" y="4360127"/>
          <a:ext cx="7391398" cy="1003610"/>
        </p:xfrm>
        <a:graphic>
          <a:graphicData uri="http://schemas.openxmlformats.org/drawingml/2006/table">
            <a:tbl>
              <a:tblPr/>
              <a:tblGrid>
                <a:gridCol w="7391398">
                  <a:extLst>
                    <a:ext uri="{9D8B030D-6E8A-4147-A177-3AD203B41FA5}">
                      <a16:colId xmlns:a16="http://schemas.microsoft.com/office/drawing/2014/main" val="2205443940"/>
                    </a:ext>
                  </a:extLst>
                </a:gridCol>
              </a:tblGrid>
              <a:tr h="100361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247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14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Year Project (Part II)</a:t>
            </a:r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980613"/>
              </p:ext>
            </p:extLst>
          </p:nvPr>
        </p:nvGraphicFramePr>
        <p:xfrm>
          <a:off x="685800" y="1447800"/>
          <a:ext cx="7924800" cy="5036064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143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3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Deadline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Milestone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Submit To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Notes / Actions / Deliverables</a:t>
                      </a: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945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13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Submit Report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Project Coordinator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4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4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4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Complete Project Report (SOFT COPY – Use </a:t>
                      </a:r>
                      <a:r>
                        <a:rPr lang="en-US" sz="1400" b="1" dirty="0"/>
                        <a:t>Template-05</a:t>
                      </a:r>
                      <a:r>
                        <a:rPr lang="en-US" sz="1400" dirty="0"/>
                        <a:t>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9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14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Final Evaluation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Exam Committee / Supervisor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Final Presentation (Use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Template-06</a:t>
                      </a:r>
                      <a:r>
                        <a:rPr lang="en-US" sz="1400" dirty="0"/>
                        <a:t>)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Full Working Demo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88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 15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Open House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/>
                        <a:t>Industry, Faculty &amp; Students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Banners, Posters, Brochure, Project Report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Final Presentation (Use </a:t>
                      </a:r>
                      <a:r>
                        <a:rPr lang="en-US" sz="1400" b="1" dirty="0"/>
                        <a:t>Template-06</a:t>
                      </a:r>
                      <a:r>
                        <a:rPr lang="en-US" sz="1400" dirty="0"/>
                        <a:t>)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b="1" dirty="0"/>
                        <a:t>Full Working Demo</a:t>
                      </a:r>
                      <a:endParaRPr lang="en-US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8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Week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/>
                        <a:t>After Finals</a:t>
                      </a:r>
                      <a:endParaRPr lang="en-US" sz="2400" b="1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Submit Project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Project </a:t>
                      </a:r>
                      <a:r>
                        <a:rPr lang="en-US" sz="1400" dirty="0"/>
                        <a:t>Coordinator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Documentation (Hard Binding – 3 Copies)</a:t>
                      </a:r>
                      <a:endParaRPr lang="en-US" sz="1800" dirty="0"/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400" dirty="0"/>
                        <a:t>CD (Including Software – Source Code, Appendix in PDF Format)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2A8A10-F646-5DD4-7D03-BC5118BC8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490D6-4C4D-A9B5-BF11-D70780652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64813F-2162-C511-AE95-454FE7E5D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54848"/>
              </p:ext>
            </p:extLst>
          </p:nvPr>
        </p:nvGraphicFramePr>
        <p:xfrm>
          <a:off x="685800" y="1981200"/>
          <a:ext cx="7924800" cy="60325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68617">
                  <a:extLst>
                    <a:ext uri="{9D8B030D-6E8A-4147-A177-3AD203B41FA5}">
                      <a16:colId xmlns:a16="http://schemas.microsoft.com/office/drawing/2014/main" val="3710431531"/>
                    </a:ext>
                  </a:extLst>
                </a:gridCol>
                <a:gridCol w="1765435">
                  <a:extLst>
                    <a:ext uri="{9D8B030D-6E8A-4147-A177-3AD203B41FA5}">
                      <a16:colId xmlns:a16="http://schemas.microsoft.com/office/drawing/2014/main" val="4147234921"/>
                    </a:ext>
                  </a:extLst>
                </a:gridCol>
                <a:gridCol w="1942748">
                  <a:extLst>
                    <a:ext uri="{9D8B030D-6E8A-4147-A177-3AD203B41FA5}">
                      <a16:colId xmlns:a16="http://schemas.microsoft.com/office/drawing/2014/main" val="86276583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9258974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</a:rPr>
                        <a:t>Week 6 and</a:t>
                      </a:r>
                      <a:endParaRPr lang="en-PK" sz="1200" b="1" dirty="0">
                        <a:effectLst/>
                      </a:endParaRPr>
                    </a:p>
                    <a:p>
                      <a:r>
                        <a:rPr lang="en-US" sz="1000" b="1" dirty="0">
                          <a:effectLst/>
                        </a:rPr>
                        <a:t>12</a:t>
                      </a:r>
                      <a:endParaRPr lang="en-PK" sz="1200" b="1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</a:rPr>
                        <a:t>Attendance and</a:t>
                      </a:r>
                      <a:endParaRPr lang="en-PK" sz="1200" b="1" dirty="0">
                        <a:effectLst/>
                      </a:endParaRPr>
                    </a:p>
                    <a:p>
                      <a:r>
                        <a:rPr lang="en-US" sz="1000" b="1" dirty="0">
                          <a:effectLst/>
                        </a:rPr>
                        <a:t>Performance Report</a:t>
                      </a:r>
                      <a:endParaRPr lang="en-PK" sz="1200" b="1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</a:rPr>
                        <a:t>Project Coordinator</a:t>
                      </a:r>
                      <a:endParaRPr lang="en-PK" sz="1200" b="1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marL="342900" lvl="0" indent="-342900" rtl="0">
                        <a:buFont typeface="Symbol" pitchFamily="2" charset="2"/>
                        <a:buChar char=""/>
                      </a:pPr>
                      <a:r>
                        <a:rPr lang="en-US" sz="1000" b="1" dirty="0">
                          <a:effectLst/>
                        </a:rPr>
                        <a:t>Attendance and Performance Report</a:t>
                      </a:r>
                      <a:endParaRPr lang="en-PK" sz="1100" b="1" dirty="0">
                        <a:effectLst/>
                      </a:endParaRPr>
                    </a:p>
                    <a:p>
                      <a:pPr marL="228600" indent="-228600"/>
                      <a:r>
                        <a:rPr lang="en-US" sz="1000" b="1" dirty="0">
                          <a:effectLst/>
                        </a:rPr>
                        <a:t>            (Both Soft and Hardcopies - Use</a:t>
                      </a:r>
                      <a:endParaRPr lang="en-PK" sz="1100" b="1" dirty="0">
                        <a:effectLst/>
                      </a:endParaRPr>
                    </a:p>
                    <a:p>
                      <a:pPr marL="228600" indent="-228600">
                        <a:spcAft>
                          <a:spcPts val="300"/>
                        </a:spcAft>
                      </a:pPr>
                      <a:r>
                        <a:rPr lang="en-US" sz="1000" b="1" dirty="0">
                          <a:effectLst/>
                        </a:rPr>
                        <a:t>            Template-8)</a:t>
                      </a:r>
                      <a:endParaRPr lang="en-PK" sz="1100" b="1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3189328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616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spcAft>
                <a:spcPts val="2400"/>
              </a:spcAft>
            </a:pPr>
            <a:r>
              <a:rPr lang="en-US" sz="2000" dirty="0"/>
              <a:t>Template-01: </a:t>
            </a:r>
            <a:r>
              <a:rPr lang="en-US" sz="2000" dirty="0">
                <a:solidFill>
                  <a:srgbClr val="3333FF"/>
                </a:solidFill>
              </a:rPr>
              <a:t>Project Team</a:t>
            </a:r>
            <a:r>
              <a:rPr lang="en-US" sz="2000" dirty="0"/>
              <a:t> (MS Word)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Template-02: </a:t>
            </a:r>
            <a:r>
              <a:rPr lang="en-US" sz="2000" dirty="0">
                <a:solidFill>
                  <a:srgbClr val="3333FF"/>
                </a:solidFill>
              </a:rPr>
              <a:t>Initial Proposal </a:t>
            </a:r>
            <a:r>
              <a:rPr lang="en-US" sz="2000" dirty="0"/>
              <a:t>(MS Word)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Template-03: </a:t>
            </a:r>
            <a:r>
              <a:rPr lang="en-US" sz="2000" dirty="0">
                <a:solidFill>
                  <a:srgbClr val="3333FF"/>
                </a:solidFill>
              </a:rPr>
              <a:t>Proposal Presentation </a:t>
            </a:r>
            <a:r>
              <a:rPr lang="en-US" sz="2000" dirty="0"/>
              <a:t>(MS PowerPoint)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Template-04: </a:t>
            </a:r>
            <a:r>
              <a:rPr lang="en-US" sz="2000" dirty="0">
                <a:solidFill>
                  <a:srgbClr val="3333FF"/>
                </a:solidFill>
              </a:rPr>
              <a:t>Proposal &amp; Plan </a:t>
            </a:r>
            <a:r>
              <a:rPr lang="en-US" sz="2000" dirty="0"/>
              <a:t>(MS Word) 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Template-05: </a:t>
            </a:r>
            <a:r>
              <a:rPr lang="en-US" sz="2000" dirty="0">
                <a:solidFill>
                  <a:srgbClr val="3333FF"/>
                </a:solidFill>
              </a:rPr>
              <a:t>Project Report </a:t>
            </a:r>
            <a:r>
              <a:rPr lang="en-US" sz="2000" dirty="0"/>
              <a:t>(MS Word) </a:t>
            </a:r>
            <a:r>
              <a:rPr lang="en-US" sz="2000" b="1" dirty="0"/>
              <a:t>(Include Chapter Number 6 of Testing and Evaluation which includes (Test Case Design)).</a:t>
            </a:r>
          </a:p>
          <a:p>
            <a:pPr lvl="0">
              <a:spcAft>
                <a:spcPts val="2400"/>
              </a:spcAft>
            </a:pPr>
            <a:r>
              <a:rPr lang="en-US" sz="2000" dirty="0"/>
              <a:t>Template-06: </a:t>
            </a:r>
            <a:r>
              <a:rPr lang="en-US" sz="2000" dirty="0">
                <a:solidFill>
                  <a:srgbClr val="3333FF"/>
                </a:solidFill>
              </a:rPr>
              <a:t>Final Presentation </a:t>
            </a:r>
            <a:r>
              <a:rPr lang="en-US" sz="2000" dirty="0"/>
              <a:t>(MS PowerPoint)</a:t>
            </a:r>
          </a:p>
          <a:p>
            <a:pPr>
              <a:spcAft>
                <a:spcPts val="2400"/>
              </a:spcAft>
            </a:pPr>
            <a:r>
              <a:rPr lang="en-US" sz="2000" dirty="0"/>
              <a:t>Template-07: </a:t>
            </a:r>
            <a:r>
              <a:rPr lang="en-US" sz="2000" dirty="0">
                <a:solidFill>
                  <a:srgbClr val="3333FF"/>
                </a:solidFill>
              </a:rPr>
              <a:t>Progress Presentation </a:t>
            </a:r>
            <a:r>
              <a:rPr lang="en-US" sz="2000" dirty="0"/>
              <a:t>(MS PowerPoint)</a:t>
            </a:r>
          </a:p>
          <a:p>
            <a:pPr lvl="0">
              <a:spcAft>
                <a:spcPts val="2400"/>
              </a:spcAft>
            </a:pPr>
            <a:endParaRPr lang="en-US" sz="20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15820E-893B-0B88-A352-BBA3A896D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D551-3F2D-E17A-2C98-751CB5D2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38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You must exactly follow template </a:t>
            </a:r>
            <a:r>
              <a:rPr lang="en-US" sz="2000" b="1" dirty="0">
                <a:solidFill>
                  <a:srgbClr val="0033CC"/>
                </a:solidFill>
              </a:rPr>
              <a:t>formats</a:t>
            </a:r>
            <a:r>
              <a:rPr lang="en-US" sz="2000" dirty="0">
                <a:solidFill>
                  <a:srgbClr val="3333FF"/>
                </a:solidFill>
              </a:rPr>
              <a:t> </a:t>
            </a:r>
            <a:r>
              <a:rPr lang="en-US" sz="2000" dirty="0"/>
              <a:t>in all documents.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No deliverable will be accepted if they don’t comply to the formatting guidelines.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All SOFT copies must be uploaded on </a:t>
            </a:r>
            <a:r>
              <a:rPr lang="en-US" sz="2000" dirty="0" err="1"/>
              <a:t>moellim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rgbClr val="0033CC"/>
                </a:solidFill>
              </a:rPr>
              <a:t>PDF file format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CFEE62-5B07-1D2A-34CB-9C4128FCA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794BA-AA80-0A82-DEBF-5A06B72B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03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Opportunity &amp; Stakeholders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Existing Systems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Problem Statement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Proposed Solution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400" dirty="0"/>
              <a:t>Project Scope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F7A68-620B-95D0-AD26-5C877E9A6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EE173-A2E6-0D41-F639-34DA1748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50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2AC92-7444-4553-B9BE-C63244426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447800"/>
            <a:ext cx="4038600" cy="48768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Problem (Opportunity &amp; Stakeholders)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Solution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Progress Report Summary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1800" dirty="0"/>
              <a:t>Requirements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Software System (Design + Implementation + Testing)</a:t>
            </a:r>
          </a:p>
          <a:p>
            <a:pPr lvl="1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Endeavour (Team + Work + Way of Working)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Next Steps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Working Tool (half modules)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82F0E-199F-66D5-6B2F-2D8AD45E8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F1129-1694-CFF3-759C-A32C35B8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6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Handbook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19600" y="1600200"/>
            <a:ext cx="4267200" cy="4525963"/>
          </a:xfrm>
        </p:spPr>
        <p:txBody>
          <a:bodyPr/>
          <a:lstStyle/>
          <a:p>
            <a:pPr>
              <a:spcAft>
                <a:spcPts val="3000"/>
              </a:spcAft>
            </a:pPr>
            <a:r>
              <a:rPr lang="en-US" sz="2000" dirty="0"/>
              <a:t>Handbook should be studied carefully. </a:t>
            </a:r>
          </a:p>
          <a:p>
            <a:pPr>
              <a:spcAft>
                <a:spcPts val="3000"/>
              </a:spcAft>
            </a:pPr>
            <a:r>
              <a:rPr lang="en-US" sz="2000" dirty="0"/>
              <a:t>Deviations from the guidelines described in it should be explained, justified and have the consent of the project supervisor.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1F5CA-7251-0556-6883-8B9563E9E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8762"/>
            <a:ext cx="2971800" cy="3800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64A4BA-9CBA-0532-1DE5-95A4DC10E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5E6C1-8084-5B9B-ED14-3BCF2DDA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14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2CE8B4-84FF-9890-1467-86020EC41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75F366-051D-3329-B66F-78BEE9C5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34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Chapter 1: Introduction</a:t>
            </a:r>
          </a:p>
          <a:p>
            <a:r>
              <a:rPr lang="en-US" sz="2000" dirty="0"/>
              <a:t>1.1 Opportunity &amp; Stakeholders </a:t>
            </a:r>
          </a:p>
          <a:p>
            <a:r>
              <a:rPr lang="en-US" sz="2000" dirty="0"/>
              <a:t>1.2 Motivations and Challenges</a:t>
            </a:r>
          </a:p>
          <a:p>
            <a:r>
              <a:rPr lang="en-US" sz="2000" dirty="0"/>
              <a:t>1.3 Goals and Objectives</a:t>
            </a:r>
          </a:p>
          <a:p>
            <a:r>
              <a:rPr lang="en-US" sz="2000" dirty="0"/>
              <a:t>1.4 Scope of project</a:t>
            </a:r>
            <a:endParaRPr lang="en-PK" sz="2000" dirty="0"/>
          </a:p>
          <a:p>
            <a:r>
              <a:rPr lang="en-US" sz="2000" dirty="0"/>
              <a:t>1.5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Significance of study</a:t>
            </a:r>
            <a:r>
              <a:rPr lang="en-PK" sz="2000" dirty="0">
                <a:effectLst/>
              </a:rPr>
              <a:t> 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D401F3-5154-3EA9-5C56-6AC5895F5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D65CA2-E77B-2E1F-92D0-EC4F8DB6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30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75E6B-0190-D9AC-949F-00DE59A5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EBEC51-F918-5606-D675-AF4E3C6F3A6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981200"/>
            <a:ext cx="8229600" cy="30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Chapter 2: Literature Review</a:t>
            </a:r>
          </a:p>
          <a:p>
            <a:r>
              <a:rPr lang="en-US" sz="1800" dirty="0"/>
              <a:t>2.1 Introduction</a:t>
            </a:r>
          </a:p>
          <a:p>
            <a:r>
              <a:rPr lang="en-US" sz="1800" dirty="0"/>
              <a:t>2.2 Literature Review/Technologies Overview</a:t>
            </a:r>
          </a:p>
          <a:p>
            <a:r>
              <a:rPr lang="en-US" sz="1800" dirty="0"/>
              <a:t>2.3 Comparative Analysis/ Summary </a:t>
            </a:r>
          </a:p>
          <a:p>
            <a:r>
              <a:rPr lang="en-US" sz="1800" dirty="0"/>
              <a:t>2.4 Research Gaps</a:t>
            </a:r>
            <a:endParaRPr lang="en-PK" sz="1800" dirty="0"/>
          </a:p>
          <a:p>
            <a:r>
              <a:rPr lang="en-US" sz="1800" dirty="0"/>
              <a:t>2.5 Problem Statement</a:t>
            </a:r>
            <a:endParaRPr lang="en-PK" sz="1800" dirty="0"/>
          </a:p>
          <a:p>
            <a:r>
              <a:rPr lang="en-US" sz="1800" dirty="0"/>
              <a:t>2.6 Summary 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26563F95-FA8E-BC0F-649A-805607E4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Project Report</a:t>
            </a:r>
          </a:p>
        </p:txBody>
      </p:sp>
    </p:spTree>
    <p:extLst>
      <p:ext uri="{BB962C8B-B14F-4D97-AF65-F5344CB8AC3E}">
        <p14:creationId xmlns:p14="http://schemas.microsoft.com/office/powerpoint/2010/main" val="1838345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8D69C-2F3F-2DF3-7C47-2AFD3891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GB" sz="6200" b="1" dirty="0"/>
              <a:t>Chapter 3: System Design and Requirements</a:t>
            </a:r>
          </a:p>
          <a:p>
            <a:r>
              <a:rPr lang="en-GB" sz="8000" dirty="0"/>
              <a:t> 3.1 Introduction </a:t>
            </a:r>
          </a:p>
          <a:p>
            <a:r>
              <a:rPr lang="en-GB" sz="8000" dirty="0"/>
              <a:t> 3.2 System Architecture</a:t>
            </a:r>
          </a:p>
          <a:p>
            <a:r>
              <a:rPr lang="en-GB" sz="8000" dirty="0"/>
              <a:t> 3.3 Functional Requirements</a:t>
            </a:r>
          </a:p>
          <a:p>
            <a:r>
              <a:rPr lang="en-GB" sz="8000" dirty="0"/>
              <a:t> 3.4 Non-Functional Requirements</a:t>
            </a:r>
          </a:p>
          <a:p>
            <a:r>
              <a:rPr lang="en-GB" sz="8000" dirty="0"/>
              <a:t> 3.5 Design Diagrams (</a:t>
            </a:r>
            <a:r>
              <a:rPr lang="en-GB" sz="8000" dirty="0" err="1"/>
              <a:t>usecases</a:t>
            </a:r>
            <a:r>
              <a:rPr lang="en-GB" sz="8000" dirty="0"/>
              <a:t>, dataflow diagrams, sequence </a:t>
            </a:r>
            <a:r>
              <a:rPr lang="en-GB" sz="8000" dirty="0" err="1"/>
              <a:t>diagram,flowcharts</a:t>
            </a:r>
            <a:r>
              <a:rPr lang="en-GB" sz="8000" dirty="0"/>
              <a:t>)</a:t>
            </a:r>
          </a:p>
          <a:p>
            <a:r>
              <a:rPr lang="en-GB" sz="8000" dirty="0"/>
              <a:t>3.6 Hardware and Software Requirements</a:t>
            </a:r>
          </a:p>
          <a:p>
            <a:r>
              <a:rPr lang="en-GB" sz="8000" dirty="0"/>
              <a:t>3.7 Threat Scenarios</a:t>
            </a:r>
          </a:p>
          <a:p>
            <a:r>
              <a:rPr lang="en-GB" sz="8000" dirty="0"/>
              <a:t>3.8 Threat </a:t>
            </a:r>
            <a:r>
              <a:rPr lang="en-GB" sz="8000" dirty="0" err="1"/>
              <a:t>Modeling</a:t>
            </a:r>
            <a:r>
              <a:rPr lang="en-GB" sz="8000" dirty="0"/>
              <a:t> Techniques </a:t>
            </a:r>
          </a:p>
          <a:p>
            <a:r>
              <a:rPr lang="en-GB" sz="7200" dirty="0"/>
              <a:t>3.9 Threat Resistance Model</a:t>
            </a:r>
          </a:p>
          <a:p>
            <a:r>
              <a:rPr lang="en-GB" sz="7200" dirty="0"/>
              <a:t>3.10 summary</a:t>
            </a:r>
          </a:p>
          <a:p>
            <a:endParaRPr lang="en-GB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6000B-E5C8-3B48-E2B9-8E34597B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411A8A1-71F3-C8EC-A881-FEF52826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Project Report</a:t>
            </a:r>
          </a:p>
        </p:txBody>
      </p:sp>
    </p:spTree>
    <p:extLst>
      <p:ext uri="{BB962C8B-B14F-4D97-AF65-F5344CB8AC3E}">
        <p14:creationId xmlns:p14="http://schemas.microsoft.com/office/powerpoint/2010/main" val="1299945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CB944A3-17EB-DCD3-98CB-2383EDF48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94906"/>
              </p:ext>
            </p:extLst>
          </p:nvPr>
        </p:nvGraphicFramePr>
        <p:xfrm>
          <a:off x="838200" y="1499398"/>
          <a:ext cx="7543800" cy="498779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543800">
                  <a:extLst>
                    <a:ext uri="{9D8B030D-6E8A-4147-A177-3AD203B41FA5}">
                      <a16:colId xmlns:a16="http://schemas.microsoft.com/office/drawing/2014/main" val="3406587487"/>
                    </a:ext>
                  </a:extLst>
                </a:gridCol>
              </a:tblGrid>
              <a:tr h="349468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Arial" pitchFamily="34" charset="0"/>
                        <a:buChar char="•"/>
                      </a:pP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Chapter 4: Methodology</a:t>
                      </a:r>
                      <a:endParaRPr lang="en-PK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044913"/>
                  </a:ext>
                </a:extLst>
              </a:tr>
              <a:tr h="349468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Arial" pitchFamily="34" charset="0"/>
                        <a:buChar char="•"/>
                      </a:pP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4.1 Introduction </a:t>
                      </a:r>
                      <a:endParaRPr lang="en-PK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477990"/>
                  </a:ext>
                </a:extLst>
              </a:tr>
              <a:tr h="4288857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Arial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4.2 Research Methodology. Explanation of approach whether quantitative, qualitative and experimental.</a:t>
                      </a:r>
                      <a:endParaRPr lang="en-PK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Arial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4.3 Data Collection: How data will be gathered for the project such as network logs, malware samples, survey responses.</a:t>
                      </a:r>
                      <a:endParaRPr lang="en-PK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Arial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4.4 Tools and Techniques (Specific method </a:t>
                      </a:r>
                      <a:r>
                        <a:rPr lang="en-US" sz="2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penetration testing, encryption, machine learning models etc. used in projects).</a:t>
                      </a:r>
                      <a:endParaRPr lang="en-PK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Arial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4.5 Evaluation </a:t>
                      </a:r>
                      <a:r>
                        <a:rPr lang="en-US" sz="2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Matrics</a:t>
                      </a: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(Criteria for assessing the project, accuracy, speed or security robustness.)</a:t>
                      </a:r>
                      <a:endParaRPr lang="en-PK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Arial" pitchFamily="34" charset="0"/>
                        <a:buChar char="•"/>
                        <a:tabLst>
                          <a:tab pos="457200" algn="l"/>
                        </a:tabLst>
                      </a:pPr>
                      <a:r>
                        <a:rPr lang="en-US" sz="2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4.6 summary</a:t>
                      </a:r>
                      <a:endParaRPr lang="en-PK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8570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DBCAF-7B14-24C5-94C6-CC4C7F60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AAA432-7D3E-A825-3A26-225DF08B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</a:p>
        </p:txBody>
      </p:sp>
    </p:spTree>
    <p:extLst>
      <p:ext uri="{BB962C8B-B14F-4D97-AF65-F5344CB8AC3E}">
        <p14:creationId xmlns:p14="http://schemas.microsoft.com/office/powerpoint/2010/main" val="2140215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B9FF-3C01-08F4-06CD-27C2F1E2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1BB9-62C1-693D-BFBB-600E6AAD5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  <a:tabLst>
                <a:tab pos="457200" algn="l"/>
              </a:tabLst>
            </a:pPr>
            <a:r>
              <a:rPr lang="en-US" sz="6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Chapter 5: Implementation and Testing </a:t>
            </a:r>
            <a:endParaRPr lang="en-GB" sz="6200" b="1" dirty="0"/>
          </a:p>
          <a:p>
            <a:pPr>
              <a:tabLst>
                <a:tab pos="457200" algn="l"/>
              </a:tabLst>
            </a:pPr>
            <a:r>
              <a:rPr lang="en-GB" sz="7200" dirty="0"/>
              <a:t>5.1Security Properties testing </a:t>
            </a:r>
          </a:p>
          <a:p>
            <a:pPr>
              <a:tabLst>
                <a:tab pos="457200" algn="l"/>
              </a:tabLst>
            </a:pPr>
            <a:r>
              <a:rPr lang="en-GB" sz="7200" dirty="0"/>
              <a:t>5.2 System Setup (Environment Configuration, Key functions and Algorithms) 5.3 System integration (Components integration, Communication protocols/APIs, Databases or log management setup).</a:t>
            </a:r>
          </a:p>
          <a:p>
            <a:pPr>
              <a:tabLst>
                <a:tab pos="457200" algn="l"/>
              </a:tabLst>
            </a:pPr>
            <a:r>
              <a:rPr lang="en-GB" sz="7200" dirty="0"/>
              <a:t>5.3 Penetration Testing and Vulnerability Assessment </a:t>
            </a:r>
          </a:p>
          <a:p>
            <a:pPr>
              <a:tabLst>
                <a:tab pos="457200" algn="l"/>
              </a:tabLst>
            </a:pPr>
            <a:r>
              <a:rPr lang="en-GB" sz="7200" dirty="0"/>
              <a:t>5.4 Reverse Engineering, Malware Analysis</a:t>
            </a:r>
          </a:p>
          <a:p>
            <a:pPr>
              <a:tabLst>
                <a:tab pos="457200" algn="l"/>
              </a:tabLst>
            </a:pPr>
            <a:r>
              <a:rPr lang="en-GB" sz="7200" dirty="0"/>
              <a:t>5.5 Test cases</a:t>
            </a:r>
          </a:p>
          <a:p>
            <a:pPr>
              <a:tabLst>
                <a:tab pos="457200" algn="l"/>
              </a:tabLst>
            </a:pPr>
            <a:r>
              <a:rPr lang="en-GB" sz="7200" dirty="0"/>
              <a:t>5.5 Best Practices / Coding Standards</a:t>
            </a:r>
          </a:p>
          <a:p>
            <a:pPr>
              <a:tabLst>
                <a:tab pos="457200" algn="l"/>
              </a:tabLst>
            </a:pPr>
            <a:r>
              <a:rPr lang="en-GB" sz="6200" dirty="0"/>
              <a:t>      5.5.1 Code Validation</a:t>
            </a:r>
          </a:p>
          <a:p>
            <a:pPr>
              <a:tabLst>
                <a:tab pos="457200" algn="l"/>
              </a:tabLst>
            </a:pPr>
            <a:r>
              <a:rPr lang="en-GB" sz="6200" dirty="0"/>
              <a:t>      5.5.2 Development Practices &amp; Standards</a:t>
            </a:r>
          </a:p>
          <a:p>
            <a:pPr>
              <a:tabLst>
                <a:tab pos="457200" algn="l"/>
              </a:tabLst>
            </a:pPr>
            <a:r>
              <a:rPr lang="en-GB" sz="7200" dirty="0"/>
              <a:t>5.6 Summary</a:t>
            </a:r>
          </a:p>
          <a:p>
            <a:pPr>
              <a:tabLst>
                <a:tab pos="457200" algn="l"/>
              </a:tabLst>
            </a:pPr>
            <a:endParaRPr lang="en-GB" sz="7200" dirty="0"/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04BD-D9DD-D649-D9A6-EF454A7E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443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0599"/>
          </a:xfrm>
        </p:spPr>
        <p:txBody>
          <a:bodyPr/>
          <a:lstStyle/>
          <a:p>
            <a:r>
              <a:rPr lang="en-US" dirty="0"/>
              <a:t>Project Report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4127" y="137160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b="1" dirty="0"/>
              <a:t>Chapter 6: Conclusion and Future Work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tabLst>
                <a:tab pos="457200" algn="l"/>
              </a:tabLst>
            </a:pPr>
            <a:r>
              <a:rPr lang="en-US" sz="3300" dirty="0"/>
              <a:t>6.1 Introduction </a:t>
            </a:r>
          </a:p>
          <a:p>
            <a:pPr>
              <a:tabLst>
                <a:tab pos="457200" algn="l"/>
              </a:tabLst>
            </a:pPr>
            <a:endParaRPr lang="en-US" sz="3300" dirty="0"/>
          </a:p>
          <a:p>
            <a:pPr>
              <a:tabLst>
                <a:tab pos="457200" algn="l"/>
              </a:tabLst>
            </a:pPr>
            <a:r>
              <a:rPr lang="en-US" sz="3300" dirty="0"/>
              <a:t>6.2 Achievements and Improvements</a:t>
            </a:r>
          </a:p>
          <a:p>
            <a:pPr>
              <a:tabLst>
                <a:tab pos="457200" algn="l"/>
              </a:tabLst>
            </a:pPr>
            <a:endParaRPr lang="en-US" sz="3300" dirty="0"/>
          </a:p>
          <a:p>
            <a:pPr>
              <a:tabLst>
                <a:tab pos="457200" algn="l"/>
              </a:tabLst>
            </a:pPr>
            <a:r>
              <a:rPr lang="en-US" sz="3300" dirty="0"/>
              <a:t>6.3 Critical Review </a:t>
            </a:r>
          </a:p>
          <a:p>
            <a:pPr>
              <a:tabLst>
                <a:tab pos="457200" algn="l"/>
              </a:tabLst>
            </a:pPr>
            <a:endParaRPr lang="en-US" sz="3300" dirty="0"/>
          </a:p>
          <a:p>
            <a:pPr>
              <a:tabLst>
                <a:tab pos="457200" algn="l"/>
              </a:tabLst>
            </a:pPr>
            <a:r>
              <a:rPr lang="en-US" sz="3300" dirty="0"/>
              <a:t>6.4 Future Recommendations</a:t>
            </a:r>
          </a:p>
          <a:p>
            <a:pPr>
              <a:tabLst>
                <a:tab pos="457200" algn="l"/>
              </a:tabLst>
            </a:pPr>
            <a:endParaRPr lang="en-US" sz="3300" dirty="0"/>
          </a:p>
          <a:p>
            <a:pPr>
              <a:tabLst>
                <a:tab pos="457200" algn="l"/>
              </a:tabLst>
            </a:pPr>
            <a:r>
              <a:rPr lang="en-US" sz="3300" dirty="0"/>
              <a:t>6.5 Summary</a:t>
            </a:r>
          </a:p>
          <a:p>
            <a:pPr>
              <a:tabLst>
                <a:tab pos="457200" algn="l"/>
              </a:tabLst>
            </a:pPr>
            <a:endParaRPr lang="en-US" sz="3300" dirty="0"/>
          </a:p>
          <a:p>
            <a:pPr>
              <a:tabLst>
                <a:tab pos="457200" algn="l"/>
              </a:tabLst>
            </a:pPr>
            <a:r>
              <a:rPr lang="en-US" sz="3300" dirty="0"/>
              <a:t>References (list of all sources references throughout the report, formatted according to appropriate citation style </a:t>
            </a:r>
            <a:r>
              <a:rPr lang="en-US" sz="3300" dirty="0" err="1"/>
              <a:t>i.e</a:t>
            </a:r>
            <a:r>
              <a:rPr lang="en-US" sz="3300" dirty="0"/>
              <a:t> IEEE) </a:t>
            </a:r>
          </a:p>
          <a:p>
            <a:pPr>
              <a:tabLst>
                <a:tab pos="457200" algn="l"/>
              </a:tabLst>
            </a:pPr>
            <a:endParaRPr lang="en-US" sz="3300" dirty="0"/>
          </a:p>
          <a:p>
            <a:pPr>
              <a:tabLst>
                <a:tab pos="457200" algn="l"/>
              </a:tabLst>
            </a:pPr>
            <a:r>
              <a:rPr lang="en-US" sz="3300" dirty="0"/>
              <a:t>Appendices</a:t>
            </a:r>
          </a:p>
          <a:p>
            <a:pPr marL="0" indent="0">
              <a:buNone/>
            </a:pPr>
            <a:endParaRPr lang="en-US" sz="2400" b="1" dirty="0"/>
          </a:p>
          <a:p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610F51-A76E-EF5D-D217-A1E749527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40D076-FF46-26A2-1231-363F66EB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974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coordinator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9FCF9A-CE1A-0233-0C8A-C38B126B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F4D05-D19B-4063-F424-7B498D2A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700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600"/>
              </a:spcAft>
              <a:buNone/>
            </a:pPr>
            <a:r>
              <a:rPr lang="en-US" sz="2000" dirty="0"/>
              <a:t>For any issues that you may face during the project:</a:t>
            </a:r>
          </a:p>
          <a:p>
            <a:pPr lvl="1">
              <a:spcAft>
                <a:spcPts val="600"/>
              </a:spcAft>
            </a:pPr>
            <a:r>
              <a:rPr lang="en-US" sz="2000" b="1" dirty="0"/>
              <a:t>Muhammad Shabbir Hassan</a:t>
            </a:r>
            <a:br>
              <a:rPr lang="en-US" sz="2000" b="1" dirty="0"/>
            </a:br>
            <a:endParaRPr lang="en-US" sz="1400" dirty="0"/>
          </a:p>
          <a:p>
            <a:pPr lvl="2">
              <a:spcAft>
                <a:spcPts val="600"/>
              </a:spcAft>
            </a:pPr>
            <a:r>
              <a:rPr lang="en-US" sz="1600" b="1" dirty="0"/>
              <a:t>Room: 208 (Block A)</a:t>
            </a:r>
          </a:p>
          <a:p>
            <a:pPr lvl="2">
              <a:spcAft>
                <a:spcPts val="600"/>
              </a:spcAft>
            </a:pPr>
            <a:r>
              <a:rPr lang="en-US" sz="1600" b="1" dirty="0"/>
              <a:t>Email: </a:t>
            </a:r>
            <a:r>
              <a:rPr lang="en-US" sz="1600" dirty="0">
                <a:hlinkClick r:id="rId2"/>
              </a:rPr>
              <a:t>muhammad.shabbir@riphah.edu.pk</a:t>
            </a:r>
            <a:endParaRPr lang="en-US" sz="1600" dirty="0"/>
          </a:p>
          <a:p>
            <a:pPr lvl="2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r>
              <a:rPr lang="en-US" sz="2000" b="1" dirty="0"/>
              <a:t>Mr. Syed </a:t>
            </a:r>
            <a:r>
              <a:rPr lang="en-US" sz="2000" b="1" dirty="0" err="1"/>
              <a:t>Yawar</a:t>
            </a:r>
            <a:r>
              <a:rPr lang="en-US" sz="2000" b="1" dirty="0"/>
              <a:t> Abbas Zaidi</a:t>
            </a:r>
          </a:p>
          <a:p>
            <a:pPr lvl="2">
              <a:spcAft>
                <a:spcPts val="600"/>
              </a:spcAft>
            </a:pPr>
            <a:r>
              <a:rPr lang="en-US" sz="1600" b="1" dirty="0"/>
              <a:t>Room:  211 (Block A)</a:t>
            </a:r>
          </a:p>
          <a:p>
            <a:pPr lvl="2">
              <a:spcAft>
                <a:spcPts val="600"/>
              </a:spcAft>
            </a:pPr>
            <a:r>
              <a:rPr lang="en-US" sz="1600" b="1" dirty="0"/>
              <a:t>Email: </a:t>
            </a:r>
            <a:r>
              <a:rPr lang="en-US" sz="1600" b="1" dirty="0">
                <a:hlinkClick r:id="rId3"/>
              </a:rPr>
              <a:t>yawar.abbas@riphah.edu.pk</a:t>
            </a:r>
            <a:endParaRPr lang="en-US" sz="1600" b="1" dirty="0"/>
          </a:p>
          <a:p>
            <a:pPr lvl="2">
              <a:spcAft>
                <a:spcPts val="600"/>
              </a:spcAft>
            </a:pPr>
            <a:endParaRPr lang="en-US" sz="1600" b="1" dirty="0"/>
          </a:p>
          <a:p>
            <a:pPr lvl="2">
              <a:spcAft>
                <a:spcPts val="600"/>
              </a:spcAft>
            </a:pPr>
            <a:endParaRPr lang="en-US" sz="1600" dirty="0"/>
          </a:p>
          <a:p>
            <a:pPr marL="914400" lvl="2" indent="0">
              <a:spcAft>
                <a:spcPts val="600"/>
              </a:spcAft>
              <a:buNone/>
            </a:pPr>
            <a:endParaRPr lang="en-US" sz="1600" dirty="0"/>
          </a:p>
          <a:p>
            <a:pPr lvl="2">
              <a:spcAft>
                <a:spcPts val="600"/>
              </a:spcAft>
            </a:pPr>
            <a:endParaRPr lang="en-U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494B8-AA92-3F72-8B31-E857C43E7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43000" cy="9905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6A603-1A3F-B869-4FE4-B1329813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582B-FC16-47B7-A505-CBC6F67FA41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66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1571" y="2048951"/>
            <a:ext cx="7772400" cy="1470025"/>
          </a:xfrm>
        </p:spPr>
        <p:txBody>
          <a:bodyPr>
            <a:normAutofit/>
          </a:bodyPr>
          <a:lstStyle/>
          <a:p>
            <a:r>
              <a:rPr lang="en-US" sz="6000" i="1" dirty="0"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1F361-7FBB-73E2-C24A-072383D6D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47799" cy="1295400"/>
          </a:xfrm>
          <a:prstGeom prst="rect">
            <a:avLst/>
          </a:prstGeom>
        </p:spPr>
      </p:pic>
      <p:pic>
        <p:nvPicPr>
          <p:cNvPr id="2" name="Picture 2" descr="Network Security Tips &amp; Guidelines | Travelers Insurance">
            <a:extLst>
              <a:ext uri="{FF2B5EF4-FFF2-40B4-BE49-F238E27FC236}">
                <a16:creationId xmlns:a16="http://schemas.microsoft.com/office/drawing/2014/main" id="{FA093FF4-A00B-905E-6C28-035B27051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0"/>
            <a:ext cx="1914525" cy="147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reating and rolling out an effective cyber security strategy">
            <a:extLst>
              <a:ext uri="{FF2B5EF4-FFF2-40B4-BE49-F238E27FC236}">
                <a16:creationId xmlns:a16="http://schemas.microsoft.com/office/drawing/2014/main" id="{D73819B4-FFBB-A7AC-D911-73C94A2E9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508056"/>
            <a:ext cx="9144001" cy="2354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59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6198</TotalTime>
  <Words>2337</Words>
  <Application>Microsoft Macintosh PowerPoint</Application>
  <PresentationFormat>On-screen Show (4:3)</PresentationFormat>
  <Paragraphs>414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Algerian</vt:lpstr>
      <vt:lpstr>Arial</vt:lpstr>
      <vt:lpstr>Calibri</vt:lpstr>
      <vt:lpstr>Symbol</vt:lpstr>
      <vt:lpstr>Times New Roman</vt:lpstr>
      <vt:lpstr>Office Theme</vt:lpstr>
      <vt:lpstr>Final Year Project Orientation BS- Cyber Security</vt:lpstr>
      <vt:lpstr>Content</vt:lpstr>
      <vt:lpstr>Project Idea / Scope</vt:lpstr>
      <vt:lpstr>Purpose of Final Year Project</vt:lpstr>
      <vt:lpstr>Final Year Project</vt:lpstr>
      <vt:lpstr>Project</vt:lpstr>
      <vt:lpstr>Project Idea</vt:lpstr>
      <vt:lpstr>Project Team / Supervisor</vt:lpstr>
      <vt:lpstr>Project Team</vt:lpstr>
      <vt:lpstr>Role of Project Supervisor</vt:lpstr>
      <vt:lpstr>Project Supervisors</vt:lpstr>
      <vt:lpstr>Policies</vt:lpstr>
      <vt:lpstr>Attendance</vt:lpstr>
      <vt:lpstr>Moellim</vt:lpstr>
      <vt:lpstr>Plagiarism</vt:lpstr>
      <vt:lpstr>Project Assessment (Part I)</vt:lpstr>
      <vt:lpstr>Project Assessment (Part I)</vt:lpstr>
      <vt:lpstr>Project Assessment (Part I)</vt:lpstr>
      <vt:lpstr>Project Assessment (Part II)</vt:lpstr>
      <vt:lpstr>Project Assessment (Part II)</vt:lpstr>
      <vt:lpstr>SCHEDULE / DELIVERABLES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 Process</vt:lpstr>
      <vt:lpstr>Final Year Project (Part I)</vt:lpstr>
      <vt:lpstr>Final Year Project (Part II)</vt:lpstr>
      <vt:lpstr>Project Templates</vt:lpstr>
      <vt:lpstr>Project Templates</vt:lpstr>
      <vt:lpstr>Proposal Presentation</vt:lpstr>
      <vt:lpstr>Progress Presentation</vt:lpstr>
      <vt:lpstr>Handbook</vt:lpstr>
      <vt:lpstr>Project REPORT</vt:lpstr>
      <vt:lpstr>Project Report</vt:lpstr>
      <vt:lpstr>Project Report</vt:lpstr>
      <vt:lpstr>Project Report</vt:lpstr>
      <vt:lpstr>Project Report</vt:lpstr>
      <vt:lpstr>Project Report</vt:lpstr>
      <vt:lpstr>Project Report</vt:lpstr>
      <vt:lpstr>Project coordinator</vt:lpstr>
      <vt:lpstr>Contact</vt:lpstr>
      <vt:lpstr>Thank You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Profile</dc:title>
  <dc:creator>khan@pin.com.pk</dc:creator>
  <cp:lastModifiedBy>Syed Yawar Abbas Zaidi</cp:lastModifiedBy>
  <cp:revision>409</cp:revision>
  <cp:lastPrinted>2018-09-15T18:34:43Z</cp:lastPrinted>
  <dcterms:created xsi:type="dcterms:W3CDTF">2014-11-12T07:08:17Z</dcterms:created>
  <dcterms:modified xsi:type="dcterms:W3CDTF">2026-08-28T04:50:17Z</dcterms:modified>
</cp:coreProperties>
</file>